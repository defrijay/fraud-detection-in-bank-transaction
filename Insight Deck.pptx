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Clustering Quality (Silhouette Score)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Full features
(incl. demographics)</c:v>
                  </c:pt>
                  <c:pt idx="1">
                    <c:v>Behavioral
features only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0.099</c:v>
                </c:pt>
                <c:pt idx="1">
                  <c:v>0.439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4F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F1 Score on Held-Out Test Set (377 transactions)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 (Flagged)</c:v>
                </c:pt>
              </c:strCache>
            </c:strRef>
          </c:tx>
          <c:spPr>
            <a:solidFill>
              <a:srgbClr val="6B7280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Logistic
Regression</c:v>
                  </c:pt>
                  <c:pt idx="2">
                    <c:v>ANN</c:v>
                  </c:pt>
                  <c:pt idx="3">
                    <c:v>DNN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0.689</c:v>
                </c:pt>
                <c:pt idx="1">
                  <c:v>0.731</c:v>
                </c:pt>
                <c:pt idx="2">
                  <c:v>0.795</c:v>
                </c:pt>
                <c:pt idx="3">
                  <c:v>0.85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F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Estimated Total Cost by Model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cost ($)</c:v>
                </c:pt>
              </c:strCache>
            </c:strRef>
          </c:tx>
          <c:spPr>
            <a:solidFill>
              <a:srgbClr val="E63946"/>
            </a:solidFill>
            <a:ln w="9525" cap="flat">
              <a:solidFill>
                <a:srgbClr val="141B49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7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3B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A649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DNN</c:v>
                  </c:pt>
                  <c:pt idx="1">
                    <c:v>Logistic
Regression</c:v>
                  </c:pt>
                  <c:pt idx="2">
                    <c:v>ANN</c:v>
                  </c:pt>
                  <c:pt idx="3">
                    <c:v>Random
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2120</c:v>
                </c:pt>
                <c:pt idx="1">
                  <c:v>2315</c:v>
                </c:pt>
                <c:pt idx="2">
                  <c:v>3635</c:v>
                </c:pt>
                <c:pt idx="3">
                  <c:v>8530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B49"/>
        </a:solidFill>
        <a:ln>
          <a:noFill/>
        </a:ln>
        <a:effectLst/>
      </c:spPr>
    </c:plotArea>
    <c:plotVisOnly val="1"/>
    <c:dispBlanksAs val="span"/>
  </c:chart>
  <c:spPr>
    <a:solidFill>
      <a:srgbClr val="141B4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Where the Fraud Signal Lives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Predictive importance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Account-level behavior</c:v>
                </c:pt>
                <c:pt idx="1">
                  <c:v>Single-transaction traits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66.8</c:v>
                </c:pt>
                <c:pt idx="1">
                  <c:v>33.2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F6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Scoring Latency per Transaction (log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per transaction (ms)</c:v>
                </c:pt>
              </c:strCache>
            </c:strRef>
          </c:tx>
          <c:spPr>
            <a:solidFill>
              <a:srgbClr val="CADCFC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 Regression
(0.002 ms)</c:v>
                  </c:pt>
                  <c:pt idx="1">
                    <c:v>Random Forest
(0.045 ms)</c:v>
                  </c:pt>
                  <c:pt idx="2">
                    <c:v>DNN
(0.915 ms)</c:v>
                  </c:pt>
                  <c:pt idx="3">
                    <c:v>ANN
(0.916 ms)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0.002</c:v>
                </c:pt>
                <c:pt idx="1">
                  <c:v>0.045</c:v>
                </c:pt>
                <c:pt idx="2">
                  <c:v>0.915</c:v>
                </c:pt>
                <c:pt idx="3">
                  <c:v>0.916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F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in val="0.001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F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64592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291840" cy="3291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65760"/>
            <a:ext cx="1463040" cy="1463040"/>
          </a:xfrm>
          <a:prstGeom prst="ellipse">
            <a:avLst/>
          </a:prstGeom>
          <a:solidFill>
            <a:srgbClr val="E63946">
              <a:alpha val="7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•  RISK &amp; FRAUD ANALYTICS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4884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Fraud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Costs You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977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unsupervised-to-supervised approach to detecting bank transaction fraud without historical fraud labels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8368" y="4892040"/>
            <a:ext cx="201168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Bank Risk &amp; Leadership Committee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Defrizal Yahdiyan Risyad   • 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Convenience Cuts Both Ways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made transactions faster and more convenient — but it also opened the door to more sophisticated fraud. Every fraudulent transaction that slips through is a direct financial loss, and repeated incidents erode something harder to win back: customer trust.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bank's current defenses rely mainly on fixed rules that flag a transaction only when it breaks a preset threshold. That works against known fraud patterns, but adaptive fraudsters learn to stay under the radar — and there is no historical record of confirmed fraud to train a smarter system 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03720" y="1691640"/>
            <a:ext cx="4754880" cy="4160520"/>
          </a:xfrm>
          <a:prstGeom prst="roundRect">
            <a:avLst>
              <a:gd name="adj" fmla="val 1758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UNRESOLVED, THE GAP COSTS: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0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88" y="253288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818120" y="23865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financial loss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6700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that runs into the billions of rupiah when it slips through undetected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223760" y="33192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342900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18120" y="32826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Eroded customer trust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18120" y="35661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customers feel their money isn't safe, they move to a competitor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223760" y="42153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432511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818120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exposure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7818120" y="44622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Scrutiny and compliance risk from unresolved fraud incidents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223760" y="51114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522122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818120" y="50749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Stretched investigation teams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818120" y="5358384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transactions a smarter system could triage automatically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 Fraud Detection  |  Confidential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Questions Leadership Needs Answered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512064" cy="512064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214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5176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the bank most exposed?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273552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transaction types, customers, or channels carry the highest fraud risk right now?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7373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581144" y="1993392"/>
            <a:ext cx="512064" cy="512064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12140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81144" y="265176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trust an automated call?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581144" y="3273552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confident can we be that a system trained without fraud records flags real risk, not just unusual-but-legit behavior?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01584" y="17373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7616" y="1993392"/>
            <a:ext cx="512064" cy="512064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12140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7616" y="265176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investigators watch for?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357616" y="3273552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signals are the strongest early warning, so limited investigator time is well spent?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3434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599432"/>
            <a:ext cx="512064" cy="512064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2744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525780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cost of getting it wrong?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879592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balance catching more fraud against blocking or annoying legitimate customers?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43434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4581144" y="4599432"/>
            <a:ext cx="512064" cy="512064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727448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81144" y="525780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this scale to real operations?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581144" y="5879592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approach fast and reliable enough for real-time decisions, not just after-the-fact analysis?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 Fraud Detection  |  Confidential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&amp; 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Worked With, and How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03320" cy="4297680"/>
          </a:xfrm>
          <a:prstGeom prst="roundRect">
            <a:avLst>
              <a:gd name="adj" fmla="val 1975"/>
            </a:avLst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83664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92938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23042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Bank Transaction Dataset for Fraud Detection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3464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2,512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14553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16 features, zero missing values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415284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$0.26 – $1,919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37261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range (mean ≈ $298)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399592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– 80 yrs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430682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 range (mean ≈ 45)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457657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channels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48874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Online, ATM, and Branch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5157216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2023 – Jan 2024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" y="54681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13-month observation window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1737360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 — A FOUR-STEP PIPELINE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09160" y="214884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70916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992624" y="2715768"/>
            <a:ext cx="0" cy="475488"/>
          </a:xfrm>
          <a:prstGeom prst="line">
            <a:avLst/>
          </a:prstGeom>
          <a:noFill/>
          <a:ln w="25400">
            <a:solidFill>
              <a:srgbClr val="CADCFC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5486400" y="213055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&amp; engineer features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244144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timestamps, verify data quality, and build temporal, behavioral, and encoded categorical features from raw transactions.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09160" y="319125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709160" y="31912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992624" y="3758184"/>
            <a:ext cx="0" cy="475488"/>
          </a:xfrm>
          <a:prstGeom prst="line">
            <a:avLst/>
          </a:prstGeom>
          <a:noFill/>
          <a:ln w="25400">
            <a:solidFill>
              <a:srgbClr val="CADCFC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5486400" y="317296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proxy label via clustering</a:t>
            </a:r>
            <a:endParaRPr lang="en-US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0" y="3483864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no fraud labels exist, K-Means and Isolation Forest jointly identify anomalous, high-risk transactions to act as a working label.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09160" y="423367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709160" y="4233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992624" y="4800600"/>
            <a:ext cx="0" cy="475488"/>
          </a:xfrm>
          <a:prstGeom prst="line">
            <a:avLst/>
          </a:prstGeom>
          <a:noFill/>
          <a:ln w="25400">
            <a:solidFill>
              <a:srgbClr val="CADCFC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486400" y="421538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four models</a:t>
            </a:r>
            <a:endParaRPr lang="en-US" sz="14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0" y="452628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classical ML models (Random Forest, Logistic Regression) and two Deep Learning models (ANN, DNN) learn to predict the proxy label.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709160" y="52760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709160" y="5276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0" y="52578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for business decisions</a:t>
            </a:r>
            <a:endParaRPr lang="en-US" sz="14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0" y="5568696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models not just by accuracy, but by real-world cost, top risk signals, and real-time scoring speed.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 Fraud Detection  |  Confidential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1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Trustworthy Label, Built Without Fraud Records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on the full feature set actively misled the analysis — it mainly rediscovered customer occupation and age, not fraud. Restricting clustering to behavioral signals only, then cross-checking two independent methods, produced a label with real grounding.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3063240"/>
          <a:ext cx="53949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645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0" y="1783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6060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K-Means-flagged transactions were independently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flagged by Isolation Forest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37947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0" y="3931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0.448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46634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 — moderate, chance-corrected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between the two detection methods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5349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on behavioral features was adopted as the working label for all downstream modeling — a proxy, not confirmed ground truth.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 Fraud Detection  |  Confidential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2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Wins on Every Ranking Metric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400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78040" y="1737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vs. classical baseline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1965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+23%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26974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improvement over Random Forest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(ANN: +15%)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3429000"/>
            <a:ext cx="4480560" cy="2331720"/>
          </a:xfrm>
          <a:prstGeom prst="roundRect">
            <a:avLst>
              <a:gd name="adj" fmla="val 3137"/>
            </a:avLst>
          </a:prstGeom>
          <a:solidFill>
            <a:srgbClr val="EEF3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52360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MODEL TRADES OFF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3931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Precision-heavy: few false alarms, but misses more fraud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452360" y="45537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Recall-heavy: catches more fraud, more false alarms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517550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every metric — F1 0.850, ROC-AUC 0.988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 Fraud Detection  |  Confidential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3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Cheapest Model Isn’t the Most "Accurate" 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illustrative cost assumptions — where a missed fraud costs far more than a false alarm — the four models rerank completely by total expected cost.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286000"/>
          <a:ext cx="67665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2286000"/>
            <a:ext cx="4114800" cy="1783080"/>
          </a:xfrm>
          <a:prstGeom prst="roundRect">
            <a:avLst>
              <a:gd name="adj" fmla="val 4103"/>
            </a:avLst>
          </a:prstGeom>
          <a:solidFill>
            <a:srgbClr val="E6394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1812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= lowest cost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743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missed frauds, 8 false alarms — the best balance once real costs are weighed, not just accuracy.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543800" y="425196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18120" y="4389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= costliest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4709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missed frauds despite a strong accuracy score — a reminder that accuracy alone is the wrong yardstick for fraud decisions.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 Fraud Detection  |  Confidential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4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Looks Like Changed Behavior, Not a Bad Transaction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FRAUD-INDICATING SIGNALS (RANDOM FOREST)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5740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Attempts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74920" y="20574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7157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7157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Balance-to-Amount Ratio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271576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37413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37413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337413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32504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03250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0325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Since Last Transaction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403250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690872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EEF3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69087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69087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74920" y="469087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9496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rule — Login Attempts ≥ 1 AND Balance-to-Amount Ratio ≥ 156 — already catches 35% of flagged transactions with no model at all.</a:t>
            </a:r>
            <a:endParaRPr lang="en-US" sz="10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903720" y="169164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6903720" y="50749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132320" y="519379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here looks less like "this transaction is suspicious" and more like "this account is acting differently than usual."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 Fraud Detection  |  Confidential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ACCURACY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Was Never Going to Be the Bottleneck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5836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91640"/>
            <a:ext cx="4251960" cy="18288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80960" y="18288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433,000/sec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37744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throughput, single core — even the slowest model (DNN) handles 1,000+ transactions/sec.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406640" y="3703320"/>
            <a:ext cx="4251960" cy="205740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38404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gate to production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160520"/>
            <a:ext cx="3703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compute. It's validating the working label and setting a cost-based decision threshold before the system acts with less human oversight.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 Fraud Detection  |  Confidential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 to Get This Into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762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6888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64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788920"/>
            <a:ext cx="21854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the label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566160"/>
            <a:ext cx="21854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fraud team manually confirm a sample of flagged transactions, turning the proxy into partial ground truth.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47288" y="178308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3703320" y="2039112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1762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67528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64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703320" y="2788920"/>
            <a:ext cx="21854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 cost-based threshold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703320" y="3566160"/>
            <a:ext cx="21854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bank’s real loss and investigation-cost figures — not a default cutoff. Lead with DNN or Logistic Regression; treat Random Forest with caution.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45936" y="178308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6601968" y="2039112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17627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66176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64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601968" y="2788920"/>
            <a:ext cx="21854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two-tier operating model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601968" y="3566160"/>
            <a:ext cx="21854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 standing account-risk score with a fast transaction-level check at authorization; keep the simple interim rule as a safety net.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244584" y="178308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</p:spPr>
      </p:sp>
      <p:sp>
        <p:nvSpPr>
          <p:cNvPr id="23" name="Shape 18"/>
          <p:cNvSpPr/>
          <p:nvPr/>
        </p:nvSpPr>
        <p:spPr>
          <a:xfrm>
            <a:off x="9500616" y="2039112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76" y="217627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164824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64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9500616" y="2788920"/>
            <a:ext cx="21854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for production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500616" y="3566160"/>
            <a:ext cx="21854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models behind a lightweight scoring API, route flagged cases to an investigation queue, and add drift monitoring and scheduled retraining.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 Fraud Detection  |  Confidential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Workable Path From No Labels to Real Detection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unsupervised-to-supervised approach can produce a workable fraud detection system even when no fraud labels exist upfront. Naive clustering on the full feature set fails outright — it rediscovers demographics, not fraud. Restricting to behavioral features and cross-validating two independent methods (87% overlap, moderate Cohen’s kappa) produces a proxy label with real behavioral grounding.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that label, DNN delivers the strongest overall performance and the lowest estimated cost. Behavioral and account-level signals — not transaction size or demographics — are the strongest fraud indicators. Latency is a non-issue at this scale; the real gate to production is validating the proxy label against real investigated cases and setting a cost-based threshold.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95160" y="169164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377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score, achieved by DNN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3246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$2,120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estimated cost, also DNN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4114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66.8%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signal from account-level behavior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49834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ms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5029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latency — no barrier to real 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 Fraud Detection  | 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8368" y="4160520"/>
            <a:ext cx="201168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Defrizal Yahdiyan Risyad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645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defrijay@gmail.com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2026-09-13T23:57:04Z</dcterms:created>
  <dcterms:modified xsi:type="dcterms:W3CDTF">2026-09-13T23:57:04Z</dcterms:modified>
</cp:coreProperties>
</file>